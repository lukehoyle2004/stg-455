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9" r:id="rId4"/>
    <p:sldMasterId id="2147484001" r:id="rId5"/>
  </p:sldMasterIdLst>
  <p:notesMasterIdLst>
    <p:notesMasterId r:id="rId17"/>
  </p:notesMasterIdLst>
  <p:sldIdLst>
    <p:sldId id="256" r:id="rId6"/>
    <p:sldId id="265" r:id="rId7"/>
    <p:sldId id="270" r:id="rId8"/>
    <p:sldId id="258" r:id="rId9"/>
    <p:sldId id="257" r:id="rId10"/>
    <p:sldId id="264" r:id="rId11"/>
    <p:sldId id="262" r:id="rId12"/>
    <p:sldId id="263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9540AB-4079-4207-B2D9-1FF9318924A4}" v="523" dt="2026-10-16T23:15:38.361"/>
    <p1510:client id="{58D783C3-5D1C-4FEB-ADCB-7400C4F7B3CC}" v="707" dt="2026-10-16T23:49:00.613"/>
    <p1510:client id="{AFD76331-7742-FC52-9B3E-4FB77DEAF42F}" v="1" dt="2026-10-16T23:26:23.057"/>
    <p1510:client id="{C69BD2CF-082E-44FF-8E69-21443EC5466A}" v="11" dt="2026-10-16T23:48:45.320"/>
    <p1510:client id="{CE5C0E32-0682-2C31-C0A7-0D11D89BA20D}" v="748" dt="2026-10-16T23:27:45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03EF93-9FB6-4E9E-AC70-3E90A41950E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81544-CA2A-491C-BB77-3225602E6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1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81F9-F84C-41A4-906F-034358F6BBE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7C65830D-9187-4391-8657-499255670A4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997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81F9-F84C-41A4-906F-034358F6BBE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5830D-9187-4391-8657-499255670A4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48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81F9-F84C-41A4-906F-034358F6BBE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5830D-9187-4391-8657-499255670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1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81F9-F84C-41A4-906F-034358F6BBE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5830D-9187-4391-8657-499255670A4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774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81F9-F84C-41A4-906F-034358F6BBE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5830D-9187-4391-8657-499255670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02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81F9-F84C-41A4-906F-034358F6BBE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5830D-9187-4391-8657-499255670A4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755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81F9-F84C-41A4-906F-034358F6BBE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5830D-9187-4391-8657-499255670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06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81F9-F84C-41A4-906F-034358F6BBE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5830D-9187-4391-8657-499255670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4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81F9-F84C-41A4-906F-034358F6BBE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5830D-9187-4391-8657-499255670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0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81F9-F84C-41A4-906F-034358F6BBE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5830D-9187-4391-8657-499255670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79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81F9-F84C-41A4-906F-034358F6BBE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5830D-9187-4391-8657-499255670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39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8359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50D81F9-F84C-41A4-906F-034358F6BBE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5830D-9187-4391-8657-499255670A4D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28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  <p:sldLayoutId id="2147484000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226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zendesk.com/blog/customer-experience/feedback/how-to-get-customer-feedback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A464-DD13-DB79-21FC-26466FEC5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1463040"/>
            <a:ext cx="6949440" cy="2651760"/>
          </a:xfrm>
        </p:spPr>
        <p:txBody>
          <a:bodyPr lIns="0" tIns="0" rIns="0" bIns="0" anchor="b" wrap="square">
            <a:noAutofit/>
          </a:bodyPr>
          <a:lstStyle/>
          <a:p>
            <a:pPr marL="0" indent="0" algn="l">
              <a:buNone/>
            </a:pPr>
            <a:r>
              <a:rPr lang="en-US" sz="4000" b="1">
                <a:solidFill>
                  <a:srgbClr val="F4F7FB"/>
                </a:solidFill>
                <a:latin typeface="Calibri"/>
              </a:rPr>
              <a:t>PRODUCTION RELEASE ENGINEERING FOR A CROSS-PLATFORM MOBILE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841E5-5B3B-E042-F13C-3C69D2097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434840"/>
            <a:ext cx="6949440" cy="1005840"/>
          </a:xfrm>
        </p:spPr>
        <p:txBody>
          <a:bodyPr lIns="0" tIns="0" rIns="0" bIns="0" anchor="t" wrap="square">
            <a:noAutofit/>
          </a:bodyPr>
          <a:lstStyle/>
          <a:p>
            <a:pPr marL="0" indent="0" algn="l">
              <a:buNone/>
            </a:pPr>
            <a:r>
              <a:rPr lang="en-US" sz="2000">
                <a:solidFill>
                  <a:srgbClr val="7DD3FC"/>
                </a:solidFill>
                <a:latin typeface="Calibri"/>
              </a:rPr>
              <a:t>By: Gabe Veltri, Luke Hoyle, Fernando Hernandez Leon, Austin Kelemen</a:t>
            </a:r>
          </a:p>
        </p:txBody>
      </p:sp>
      <p:sp>
        <p:nvSpPr>
          <p:cNvPr id="4" name="Deco ring A"/>
          <p:cNvSpPr/>
          <p:nvPr/>
        </p:nvSpPr>
        <p:spPr>
          <a:xfrm>
            <a:off x="7620000" y="457200"/>
            <a:ext cx="6766560" cy="6766560"/>
          </a:xfrm>
          <a:prstGeom prst="ellipse">
            <a:avLst/>
          </a:prstGeom>
          <a:noFill/>
          <a:ln w="1905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 ring B"/>
          <p:cNvSpPr/>
          <p:nvPr/>
        </p:nvSpPr>
        <p:spPr>
          <a:xfrm>
            <a:off x="8625840" y="1463040"/>
            <a:ext cx="4754880" cy="4754880"/>
          </a:xfrm>
          <a:prstGeom prst="ellipse">
            <a:avLst/>
          </a:prstGeom>
          <a:noFill/>
          <a:ln w="1905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 disc"/>
          <p:cNvSpPr/>
          <p:nvPr/>
        </p:nvSpPr>
        <p:spPr>
          <a:xfrm>
            <a:off x="9265920" y="2377440"/>
            <a:ext cx="2011680" cy="2011680"/>
          </a:xfrm>
          <a:prstGeom prst="ellipse">
            <a:avLst/>
          </a:prstGeom>
          <a:solidFill>
            <a:srgbClr val="2DD4B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 dot"/>
          <p:cNvSpPr/>
          <p:nvPr/>
        </p:nvSpPr>
        <p:spPr>
          <a:xfrm>
            <a:off x="10363200" y="1554480"/>
            <a:ext cx="640080" cy="640080"/>
          </a:xfrm>
          <a:prstGeom prst="ellipse">
            <a:avLst/>
          </a:prstGeom>
          <a:solidFill>
            <a:srgbClr val="7DD3F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981236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eco ring A"/>
          <p:cNvSpPr/>
          <p:nvPr/>
        </p:nvSpPr>
        <p:spPr>
          <a:xfrm>
            <a:off x="9814560" y="4480560"/>
            <a:ext cx="3840480" cy="3840480"/>
          </a:xfrm>
          <a:prstGeom prst="ellipse">
            <a:avLst/>
          </a:prstGeom>
          <a:noFill/>
          <a:ln w="1905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 disc"/>
          <p:cNvSpPr/>
          <p:nvPr/>
        </p:nvSpPr>
        <p:spPr>
          <a:xfrm>
            <a:off x="10637520" y="5303520"/>
            <a:ext cx="2377440" cy="2377440"/>
          </a:xfrm>
          <a:prstGeom prst="ellipse">
            <a:avLst/>
          </a:prstGeom>
          <a:solidFill>
            <a:srgbClr val="2DD4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1"/>
          <p:cNvSpPr/>
          <p:nvPr/>
        </p:nvSpPr>
        <p:spPr>
          <a:xfrm>
            <a:off x="731520" y="1691640"/>
            <a:ext cx="5227320" cy="182880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Team Lead - Gabe Veltri: Computer Science emphasis in Game Development</a:t>
            </a:r>
          </a:p>
        </p:txBody>
      </p:sp>
      <p:sp>
        <p:nvSpPr>
          <p:cNvPr id="9" name="Marker"/>
          <p:cNvSpPr/>
          <p:nvPr/>
        </p:nvSpPr>
        <p:spPr>
          <a:xfrm>
            <a:off x="1014984" y="250545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2"/>
          <p:cNvSpPr/>
          <p:nvPr/>
        </p:nvSpPr>
        <p:spPr>
          <a:xfrm>
            <a:off x="6233160" y="1691640"/>
            <a:ext cx="5227320" cy="182880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Team Member – Luke Hoyle: Computer Science emphasis in Big Data</a:t>
            </a:r>
          </a:p>
        </p:txBody>
      </p:sp>
      <p:sp>
        <p:nvSpPr>
          <p:cNvPr id="11" name="Marker"/>
          <p:cNvSpPr/>
          <p:nvPr/>
        </p:nvSpPr>
        <p:spPr>
          <a:xfrm>
            <a:off x="6516624" y="250545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3"/>
          <p:cNvSpPr/>
          <p:nvPr/>
        </p:nvSpPr>
        <p:spPr>
          <a:xfrm>
            <a:off x="731520" y="3794760"/>
            <a:ext cx="5227320" cy="182880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Team Member – Austin Kelemen: Cybersecurity</a:t>
            </a:r>
          </a:p>
        </p:txBody>
      </p:sp>
      <p:sp>
        <p:nvSpPr>
          <p:cNvPr id="13" name="Marker"/>
          <p:cNvSpPr/>
          <p:nvPr/>
        </p:nvSpPr>
        <p:spPr>
          <a:xfrm>
            <a:off x="1014984" y="460857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4"/>
          <p:cNvSpPr/>
          <p:nvPr/>
        </p:nvSpPr>
        <p:spPr>
          <a:xfrm>
            <a:off x="6233160" y="3794760"/>
            <a:ext cx="5227320" cy="182880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Team Member – Fernando Hernandez Leon: Computer Science emphasis in Game Development</a:t>
            </a:r>
          </a:p>
        </p:txBody>
      </p:sp>
      <p:sp>
        <p:nvSpPr>
          <p:cNvPr id="15" name="Marker"/>
          <p:cNvSpPr/>
          <p:nvPr/>
        </p:nvSpPr>
        <p:spPr>
          <a:xfrm>
            <a:off x="6516624" y="460857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AD79F-4B42-C25C-4AAE-35B6DD29F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822960"/>
          </a:xfrm>
        </p:spPr>
        <p:txBody>
          <a:bodyPr lIns="0" tIns="0" rIns="0" bIns="0" anchor="ctr" wrap="square">
            <a:noAutofit/>
          </a:bodyPr>
          <a:lstStyle/>
          <a:p>
            <a:pPr marL="0" indent="0" algn="l">
              <a:buNone/>
            </a:pPr>
            <a:r>
              <a:rPr lang="en-US" sz="3800" b="1">
                <a:solidFill>
                  <a:srgbClr val="F4F7FB"/>
                </a:solidFill>
                <a:latin typeface="Calibri"/>
              </a:rPr>
              <a:t>Introductions</a:t>
            </a:r>
          </a:p>
        </p:txBody>
      </p:sp>
    </p:spTree>
    <p:extLst>
      <p:ext uri="{BB962C8B-B14F-4D97-AF65-F5344CB8AC3E}">
        <p14:creationId xmlns:p14="http://schemas.microsoft.com/office/powerpoint/2010/main" val="593861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o ring A"/>
          <p:cNvSpPr/>
          <p:nvPr/>
        </p:nvSpPr>
        <p:spPr>
          <a:xfrm>
            <a:off x="9814560" y="4480560"/>
            <a:ext cx="3840480" cy="3840480"/>
          </a:xfrm>
          <a:prstGeom prst="ellipse">
            <a:avLst/>
          </a:prstGeom>
          <a:noFill/>
          <a:ln w="1905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 disc"/>
          <p:cNvSpPr/>
          <p:nvPr/>
        </p:nvSpPr>
        <p:spPr>
          <a:xfrm>
            <a:off x="10637520" y="5303520"/>
            <a:ext cx="2377440" cy="2377440"/>
          </a:xfrm>
          <a:prstGeom prst="ellipse">
            <a:avLst/>
          </a:prstGeom>
          <a:solidFill>
            <a:srgbClr val="2DD4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1"/>
          <p:cNvSpPr/>
          <p:nvPr/>
        </p:nvSpPr>
        <p:spPr>
          <a:xfrm>
            <a:off x="731520" y="1691640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Clean interface that allows for easy customer use </a:t>
            </a:r>
          </a:p>
        </p:txBody>
      </p:sp>
      <p:sp>
        <p:nvSpPr>
          <p:cNvPr id="7" name="Marker"/>
          <p:cNvSpPr/>
          <p:nvPr/>
        </p:nvSpPr>
        <p:spPr>
          <a:xfrm>
            <a:off x="1014984" y="1977847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2"/>
          <p:cNvSpPr/>
          <p:nvPr/>
        </p:nvSpPr>
        <p:spPr>
          <a:xfrm>
            <a:off x="731520" y="2629814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The application should run on both iOS and android </a:t>
            </a:r>
          </a:p>
        </p:txBody>
      </p:sp>
      <p:sp>
        <p:nvSpPr>
          <p:cNvPr id="9" name="Marker"/>
          <p:cNvSpPr/>
          <p:nvPr/>
        </p:nvSpPr>
        <p:spPr>
          <a:xfrm>
            <a:off x="1014984" y="2916021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3"/>
          <p:cNvSpPr/>
          <p:nvPr/>
        </p:nvSpPr>
        <p:spPr>
          <a:xfrm>
            <a:off x="731520" y="3567988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Crash and error reporting </a:t>
            </a:r>
          </a:p>
        </p:txBody>
      </p:sp>
      <p:sp>
        <p:nvSpPr>
          <p:cNvPr id="11" name="Marker"/>
          <p:cNvSpPr/>
          <p:nvPr/>
        </p:nvSpPr>
        <p:spPr>
          <a:xfrm>
            <a:off x="1014984" y="3854195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4"/>
          <p:cNvSpPr/>
          <p:nvPr/>
        </p:nvSpPr>
        <p:spPr>
          <a:xfrm>
            <a:off x="731520" y="4506162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Must be accepted into Apple </a:t>
            </a:r>
            <a:r>
              <a:rPr lang="en-US" err="1" sz="2200">
                <a:solidFill>
                  <a:srgbClr val="F4F7FB"/>
                </a:solidFill>
                <a:latin typeface="Calibri"/>
              </a:rPr>
              <a:t>Testflight</a:t>
            </a:r>
            <a:r>
              <a:rPr lang="en-US" sz="2200">
                <a:solidFill>
                  <a:srgbClr val="F4F7FB"/>
                </a:solidFill>
                <a:latin typeface="Calibri"/>
              </a:rPr>
              <a:t> and Google Play internal testing</a:t>
            </a:r>
          </a:p>
        </p:txBody>
      </p:sp>
      <p:sp>
        <p:nvSpPr>
          <p:cNvPr id="13" name="Marker"/>
          <p:cNvSpPr/>
          <p:nvPr/>
        </p:nvSpPr>
        <p:spPr>
          <a:xfrm>
            <a:off x="1014984" y="4792369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5"/>
          <p:cNvSpPr/>
          <p:nvPr/>
        </p:nvSpPr>
        <p:spPr>
          <a:xfrm>
            <a:off x="731520" y="5444336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The design should remain consistent across all platforms </a:t>
            </a:r>
          </a:p>
        </p:txBody>
      </p:sp>
      <p:sp>
        <p:nvSpPr>
          <p:cNvPr id="15" name="Marker"/>
          <p:cNvSpPr/>
          <p:nvPr/>
        </p:nvSpPr>
        <p:spPr>
          <a:xfrm>
            <a:off x="1014984" y="5730543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BF63B6-A4B0-8515-BBA6-B5405386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822960"/>
          </a:xfrm>
        </p:spPr>
        <p:txBody>
          <a:bodyPr lIns="0" tIns="0" rIns="0" bIns="0" anchor="ctr" wrap="square">
            <a:noAutofit/>
          </a:bodyPr>
          <a:lstStyle/>
          <a:p>
            <a:pPr marL="0" indent="0" algn="l">
              <a:buNone/>
            </a:pPr>
            <a:r>
              <a:rPr lang="en-US" sz="3800" b="1">
                <a:solidFill>
                  <a:srgbClr val="F4F7FB"/>
                </a:solidFill>
                <a:latin typeface="Calibri"/>
              </a:rPr>
              <a:t>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4243009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o ring A"/>
          <p:cNvSpPr/>
          <p:nvPr/>
        </p:nvSpPr>
        <p:spPr>
          <a:xfrm>
            <a:off x="9814560" y="4480560"/>
            <a:ext cx="3840480" cy="3840480"/>
          </a:xfrm>
          <a:prstGeom prst="ellipse">
            <a:avLst/>
          </a:prstGeom>
          <a:noFill/>
          <a:ln w="1905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 disc"/>
          <p:cNvSpPr/>
          <p:nvPr/>
        </p:nvSpPr>
        <p:spPr>
          <a:xfrm>
            <a:off x="10637520" y="5303520"/>
            <a:ext cx="2377440" cy="2377440"/>
          </a:xfrm>
          <a:prstGeom prst="ellipse">
            <a:avLst/>
          </a:prstGeom>
          <a:solidFill>
            <a:srgbClr val="2DD4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1"/>
          <p:cNvSpPr/>
          <p:nvPr/>
        </p:nvSpPr>
        <p:spPr>
          <a:xfrm>
            <a:off x="731520" y="1691640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Feedback was gotten from potential customer Brett Jones</a:t>
            </a:r>
          </a:p>
        </p:txBody>
      </p:sp>
      <p:sp>
        <p:nvSpPr>
          <p:cNvPr id="7" name="Marker"/>
          <p:cNvSpPr/>
          <p:nvPr/>
        </p:nvSpPr>
        <p:spPr>
          <a:xfrm>
            <a:off x="1014984" y="1977847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2"/>
          <p:cNvSpPr/>
          <p:nvPr/>
        </p:nvSpPr>
        <p:spPr>
          <a:xfrm>
            <a:off x="731520" y="2629814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Discussed making the app easy to use for customers</a:t>
            </a:r>
          </a:p>
        </p:txBody>
      </p:sp>
      <p:sp>
        <p:nvSpPr>
          <p:cNvPr id="9" name="Marker"/>
          <p:cNvSpPr/>
          <p:nvPr/>
        </p:nvSpPr>
        <p:spPr>
          <a:xfrm>
            <a:off x="1014984" y="2916021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3"/>
          <p:cNvSpPr/>
          <p:nvPr/>
        </p:nvSpPr>
        <p:spPr>
          <a:xfrm>
            <a:off x="731520" y="3567988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Discussed getting the final product reviewed to improve specific areas</a:t>
            </a:r>
          </a:p>
        </p:txBody>
      </p:sp>
      <p:sp>
        <p:nvSpPr>
          <p:cNvPr id="11" name="Marker"/>
          <p:cNvSpPr/>
          <p:nvPr/>
        </p:nvSpPr>
        <p:spPr>
          <a:xfrm>
            <a:off x="1014984" y="3854195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4"/>
          <p:cNvSpPr/>
          <p:nvPr/>
        </p:nvSpPr>
        <p:spPr>
          <a:xfrm>
            <a:off x="731520" y="4506162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Once in contact with our company we can discuss potential development challenges that we might face</a:t>
            </a:r>
          </a:p>
        </p:txBody>
      </p:sp>
      <p:sp>
        <p:nvSpPr>
          <p:cNvPr id="13" name="Marker"/>
          <p:cNvSpPr/>
          <p:nvPr/>
        </p:nvSpPr>
        <p:spPr>
          <a:xfrm>
            <a:off x="1014984" y="4792369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5"/>
          <p:cNvSpPr/>
          <p:nvPr/>
        </p:nvSpPr>
        <p:spPr>
          <a:xfrm>
            <a:off x="731520" y="5444336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Getting feedback from potential customers fits in with industry standards since ensuring the app meets customers needs is crucial  </a:t>
            </a:r>
          </a:p>
        </p:txBody>
      </p:sp>
      <p:sp>
        <p:nvSpPr>
          <p:cNvPr id="15" name="Marker"/>
          <p:cNvSpPr/>
          <p:nvPr/>
        </p:nvSpPr>
        <p:spPr>
          <a:xfrm>
            <a:off x="1014984" y="5730543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F487A6-82C7-AE5C-CE39-C3619815F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822960"/>
          </a:xfrm>
        </p:spPr>
        <p:txBody>
          <a:bodyPr lIns="0" tIns="0" rIns="0" bIns="0" anchor="ctr" wrap="square">
            <a:noAutofit/>
          </a:bodyPr>
          <a:lstStyle/>
          <a:p>
            <a:pPr marL="0" indent="0" algn="l">
              <a:buNone/>
            </a:pPr>
            <a:r>
              <a:rPr lang="en-US" sz="3800" b="1">
                <a:solidFill>
                  <a:srgbClr val="F4F7FB"/>
                </a:solidFill>
                <a:latin typeface="Calibri"/>
              </a:rPr>
              <a:t>Stakeholder Feedback</a:t>
            </a:r>
          </a:p>
        </p:txBody>
      </p:sp>
    </p:spTree>
    <p:extLst>
      <p:ext uri="{BB962C8B-B14F-4D97-AF65-F5344CB8AC3E}">
        <p14:creationId xmlns:p14="http://schemas.microsoft.com/office/powerpoint/2010/main" val="1460186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o ring A"/>
          <p:cNvSpPr/>
          <p:nvPr/>
        </p:nvSpPr>
        <p:spPr>
          <a:xfrm>
            <a:off x="9814560" y="4480560"/>
            <a:ext cx="3840480" cy="3840480"/>
          </a:xfrm>
          <a:prstGeom prst="ellipse">
            <a:avLst/>
          </a:prstGeom>
          <a:noFill/>
          <a:ln w="1905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 disc"/>
          <p:cNvSpPr/>
          <p:nvPr/>
        </p:nvSpPr>
        <p:spPr>
          <a:xfrm>
            <a:off x="10637520" y="5303520"/>
            <a:ext cx="2377440" cy="2377440"/>
          </a:xfrm>
          <a:prstGeom prst="ellipse">
            <a:avLst/>
          </a:prstGeom>
          <a:solidFill>
            <a:srgbClr val="2DD4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1"/>
          <p:cNvSpPr/>
          <p:nvPr/>
        </p:nvSpPr>
        <p:spPr>
          <a:xfrm>
            <a:off x="731520" y="1691640"/>
            <a:ext cx="5227320" cy="182880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Observability: crash and error reporting in every build</a:t>
            </a:r>
          </a:p>
        </p:txBody>
      </p:sp>
      <p:sp>
        <p:nvSpPr>
          <p:cNvPr id="7" name="Marker"/>
          <p:cNvSpPr/>
          <p:nvPr/>
        </p:nvSpPr>
        <p:spPr>
          <a:xfrm>
            <a:off x="1014984" y="250545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2"/>
          <p:cNvSpPr/>
          <p:nvPr/>
        </p:nvSpPr>
        <p:spPr>
          <a:xfrm>
            <a:off x="6233160" y="1691640"/>
            <a:ext cx="5227320" cy="182880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One-command release pipeline with WAS Build and Submit</a:t>
            </a:r>
          </a:p>
        </p:txBody>
      </p:sp>
      <p:sp>
        <p:nvSpPr>
          <p:cNvPr id="9" name="Marker"/>
          <p:cNvSpPr/>
          <p:nvPr/>
        </p:nvSpPr>
        <p:spPr>
          <a:xfrm>
            <a:off x="6516624" y="250545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3"/>
          <p:cNvSpPr/>
          <p:nvPr/>
        </p:nvSpPr>
        <p:spPr>
          <a:xfrm>
            <a:off x="731520" y="3794760"/>
            <a:ext cx="5227320" cy="182880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Automated quality gate: a smoke test across all 19 screens in CI</a:t>
            </a:r>
          </a:p>
        </p:txBody>
      </p:sp>
      <p:sp>
        <p:nvSpPr>
          <p:cNvPr id="11" name="Marker"/>
          <p:cNvSpPr/>
          <p:nvPr/>
        </p:nvSpPr>
        <p:spPr>
          <a:xfrm>
            <a:off x="1014984" y="460857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4"/>
          <p:cNvSpPr/>
          <p:nvPr/>
        </p:nvSpPr>
        <p:spPr>
          <a:xfrm>
            <a:off x="6233160" y="3794760"/>
            <a:ext cx="5227320" cy="182880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Early store submission and a validated support matrix</a:t>
            </a:r>
          </a:p>
        </p:txBody>
      </p:sp>
      <p:sp>
        <p:nvSpPr>
          <p:cNvPr id="13" name="Marker"/>
          <p:cNvSpPr/>
          <p:nvPr/>
        </p:nvSpPr>
        <p:spPr>
          <a:xfrm>
            <a:off x="6516624" y="460857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7DAC0-EE9A-4142-5D19-2E7DF576F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822960"/>
          </a:xfrm>
        </p:spPr>
        <p:txBody>
          <a:bodyPr lIns="0" tIns="0" rIns="0" bIns="0" anchor="ctr" wrap="square">
            <a:noAutofit/>
          </a:bodyPr>
          <a:lstStyle/>
          <a:p>
            <a:pPr marL="0" indent="0" algn="l">
              <a:buNone/>
            </a:pPr>
            <a:r>
              <a:rPr lang="en-US" sz="3800" b="1">
                <a:solidFill>
                  <a:srgbClr val="F4F7FB"/>
                </a:solidFill>
                <a:latin typeface="Calibri"/>
              </a:rPr>
              <a:t>Design Concept</a:t>
            </a:r>
          </a:p>
        </p:txBody>
      </p:sp>
    </p:spTree>
    <p:extLst>
      <p:ext uri="{BB962C8B-B14F-4D97-AF65-F5344CB8AC3E}">
        <p14:creationId xmlns:p14="http://schemas.microsoft.com/office/powerpoint/2010/main" val="397154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o ring A"/>
          <p:cNvSpPr/>
          <p:nvPr/>
        </p:nvSpPr>
        <p:spPr>
          <a:xfrm>
            <a:off x="9814560" y="4480560"/>
            <a:ext cx="3840480" cy="3840480"/>
          </a:xfrm>
          <a:prstGeom prst="ellipse">
            <a:avLst/>
          </a:prstGeom>
          <a:noFill/>
          <a:ln w="1905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 disc"/>
          <p:cNvSpPr/>
          <p:nvPr/>
        </p:nvSpPr>
        <p:spPr>
          <a:xfrm>
            <a:off x="10637520" y="5303520"/>
            <a:ext cx="2377440" cy="2377440"/>
          </a:xfrm>
          <a:prstGeom prst="ellipse">
            <a:avLst/>
          </a:prstGeom>
          <a:solidFill>
            <a:srgbClr val="2DD4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1"/>
          <p:cNvSpPr/>
          <p:nvPr/>
        </p:nvSpPr>
        <p:spPr>
          <a:xfrm>
            <a:off x="731520" y="1691640"/>
            <a:ext cx="10728960" cy="960120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274320" bIns="91440" anchor="ctr" wrap="square">
            <a:noAutofit/>
          </a:bodyPr>
          <a:lstStyle/>
          <a:p>
            <a:pPr marL="457200" indent="-457200" algn="l">
              <a:buClr>
                <a:srgbClr val="2DD4BF"/>
              </a:buClr>
              <a:buFont typeface="Calibri"/>
              <a:buAutoNum type="arabicPeriod" startAt="1"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Release pipeline flow</a:t>
            </a:r>
          </a:p>
        </p:txBody>
      </p:sp>
      <p:sp>
        <p:nvSpPr>
          <p:cNvPr id="7" name="Card 2"/>
          <p:cNvSpPr/>
          <p:nvPr/>
        </p:nvSpPr>
        <p:spPr>
          <a:xfrm>
            <a:off x="731520" y="2816352"/>
            <a:ext cx="10728960" cy="960120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274320" bIns="91440" anchor="ctr" wrap="square">
            <a:noAutofit/>
          </a:bodyPr>
          <a:lstStyle/>
          <a:p>
            <a:pPr marL="457200" indent="-457200" algn="l">
              <a:buClr>
                <a:srgbClr val="2DD4BF"/>
              </a:buClr>
              <a:buFont typeface="Calibri"/>
              <a:buAutoNum type="arabicPeriod" startAt="2"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Error reporting triage loop</a:t>
            </a:r>
          </a:p>
        </p:txBody>
      </p:sp>
      <p:sp>
        <p:nvSpPr>
          <p:cNvPr id="8" name="Card 3"/>
          <p:cNvSpPr/>
          <p:nvPr/>
        </p:nvSpPr>
        <p:spPr>
          <a:xfrm>
            <a:off x="731520" y="3941064"/>
            <a:ext cx="10728960" cy="960120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274320" bIns="91440" anchor="ctr" wrap="square">
            <a:noAutofit/>
          </a:bodyPr>
          <a:lstStyle/>
          <a:p>
            <a:pPr marL="457200" indent="-457200" algn="l">
              <a:buClr>
                <a:srgbClr val="2DD4BF"/>
              </a:buClr>
              <a:buFont typeface="Calibri"/>
              <a:buAutoNum type="arabicPeriod" startAt="3"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CI smoke test architecture</a:t>
            </a:r>
          </a:p>
        </p:txBody>
      </p:sp>
      <p:sp>
        <p:nvSpPr>
          <p:cNvPr id="9" name="Card 4"/>
          <p:cNvSpPr/>
          <p:nvPr/>
        </p:nvSpPr>
        <p:spPr>
          <a:xfrm>
            <a:off x="731520" y="5065776"/>
            <a:ext cx="10728960" cy="960120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274320" bIns="91440" anchor="ctr" wrap="square">
            <a:noAutofit/>
          </a:bodyPr>
          <a:lstStyle/>
          <a:p>
            <a:pPr marL="457200" indent="-457200" algn="l">
              <a:buClr>
                <a:srgbClr val="2DD4BF"/>
              </a:buClr>
              <a:buFont typeface="Calibri"/>
              <a:buAutoNum type="arabicPeriod" startAt="4"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Support matrix and validation grid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D3B40-3CFF-0B61-B96F-76EE3B2EC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822960"/>
          </a:xfrm>
        </p:spPr>
        <p:txBody>
          <a:bodyPr lIns="0" tIns="0" rIns="0" bIns="0" anchor="ctr" wrap="square">
            <a:noAutofit/>
          </a:bodyPr>
          <a:lstStyle/>
          <a:p>
            <a:pPr marL="0" indent="0" algn="l">
              <a:buNone/>
            </a:pPr>
            <a:r>
              <a:rPr lang="en-US" sz="3800" b="1">
                <a:solidFill>
                  <a:srgbClr val="F4F7FB"/>
                </a:solidFill>
                <a:latin typeface="Calibri"/>
              </a:rPr>
              <a:t>Schematics</a:t>
            </a:r>
          </a:p>
        </p:txBody>
      </p:sp>
    </p:spTree>
    <p:extLst>
      <p:ext uri="{BB962C8B-B14F-4D97-AF65-F5344CB8AC3E}">
        <p14:creationId xmlns:p14="http://schemas.microsoft.com/office/powerpoint/2010/main" val="2578860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o ring A"/>
          <p:cNvSpPr/>
          <p:nvPr/>
        </p:nvSpPr>
        <p:spPr>
          <a:xfrm>
            <a:off x="9814560" y="4480560"/>
            <a:ext cx="3840480" cy="3840480"/>
          </a:xfrm>
          <a:prstGeom prst="ellipse">
            <a:avLst/>
          </a:prstGeom>
          <a:noFill/>
          <a:ln w="1905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 disc"/>
          <p:cNvSpPr/>
          <p:nvPr/>
        </p:nvSpPr>
        <p:spPr>
          <a:xfrm>
            <a:off x="10637520" y="5303520"/>
            <a:ext cx="2377440" cy="2377440"/>
          </a:xfrm>
          <a:prstGeom prst="ellipse">
            <a:avLst/>
          </a:prstGeom>
          <a:solidFill>
            <a:srgbClr val="2DD4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1"/>
          <p:cNvSpPr/>
          <p:nvPr/>
        </p:nvSpPr>
        <p:spPr>
          <a:xfrm>
            <a:off x="731520" y="1691640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Gather additional information about the business contact due to delayed or inconsistent communication.</a:t>
            </a:r>
          </a:p>
        </p:txBody>
      </p:sp>
      <p:sp>
        <p:nvSpPr>
          <p:cNvPr id="7" name="Marker"/>
          <p:cNvSpPr/>
          <p:nvPr/>
        </p:nvSpPr>
        <p:spPr>
          <a:xfrm>
            <a:off x="1014984" y="1977847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2"/>
          <p:cNvSpPr/>
          <p:nvPr/>
        </p:nvSpPr>
        <p:spPr>
          <a:xfrm>
            <a:off x="731520" y="2629814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A build-and-submit pipeline producing signed builds for both platforms from a single command.</a:t>
            </a:r>
          </a:p>
        </p:txBody>
      </p:sp>
      <p:sp>
        <p:nvSpPr>
          <p:cNvPr id="9" name="Marker"/>
          <p:cNvSpPr/>
          <p:nvPr/>
        </p:nvSpPr>
        <p:spPr>
          <a:xfrm>
            <a:off x="1014984" y="2916021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3"/>
          <p:cNvSpPr/>
          <p:nvPr/>
        </p:nvSpPr>
        <p:spPr>
          <a:xfrm>
            <a:off x="731520" y="3567988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Acceptance into Apple TestFlight and the Google Play internal testing track.</a:t>
            </a:r>
          </a:p>
        </p:txBody>
      </p:sp>
      <p:sp>
        <p:nvSpPr>
          <p:cNvPr id="11" name="Marker"/>
          <p:cNvSpPr/>
          <p:nvPr/>
        </p:nvSpPr>
        <p:spPr>
          <a:xfrm>
            <a:off x="1014984" y="3854195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4"/>
          <p:cNvSpPr/>
          <p:nvPr/>
        </p:nvSpPr>
        <p:spPr>
          <a:xfrm>
            <a:off x="731520" y="4506162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An automated smoke test traversing all 19 screens, running in continuous integration.</a:t>
            </a:r>
          </a:p>
        </p:txBody>
      </p:sp>
      <p:sp>
        <p:nvSpPr>
          <p:cNvPr id="13" name="Marker"/>
          <p:cNvSpPr/>
          <p:nvPr/>
        </p:nvSpPr>
        <p:spPr>
          <a:xfrm>
            <a:off x="1014984" y="4792369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5"/>
          <p:cNvSpPr/>
          <p:nvPr/>
        </p:nvSpPr>
        <p:spPr>
          <a:xfrm>
            <a:off x="731520" y="5444336"/>
            <a:ext cx="10728960" cy="773582"/>
          </a:xfrm>
          <a:prstGeom prst="roundRect">
            <a:avLst>
              <a:gd name="adj" fmla="val 12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77240" tIns="91440" rIns="274320" bIns="91440" anchor="ctr" wrap="square">
            <a:noAutofit/>
          </a:bodyPr>
          <a:lstStyle/>
          <a:p>
            <a:pPr marL="0" indent="0" algn="l">
              <a:buNone/>
            </a:pPr>
            <a:r>
              <a:rPr lang="en-US" sz="2200">
                <a:solidFill>
                  <a:srgbClr val="F4F7FB"/>
                </a:solidFill>
                <a:latin typeface="Calibri"/>
              </a:rPr>
              <a:t>A documented support matrix covering the current and two prior major OS versions on both platforms, validated on physical devices.</a:t>
            </a:r>
          </a:p>
        </p:txBody>
      </p:sp>
      <p:sp>
        <p:nvSpPr>
          <p:cNvPr id="15" name="Marker"/>
          <p:cNvSpPr/>
          <p:nvPr/>
        </p:nvSpPr>
        <p:spPr>
          <a:xfrm>
            <a:off x="1014984" y="5730543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D83DA-151F-67A0-4453-1E675DDEF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822960"/>
          </a:xfrm>
        </p:spPr>
        <p:txBody>
          <a:bodyPr lIns="0" tIns="0" rIns="0" bIns="0" anchor="ctr" wrap="square">
            <a:noAutofit/>
          </a:bodyPr>
          <a:lstStyle/>
          <a:p>
            <a:pPr marL="0" indent="0" algn="l">
              <a:buNone/>
            </a:pPr>
            <a:r>
              <a:rPr lang="en-US" sz="3800" b="1">
                <a:solidFill>
                  <a:srgbClr val="F4F7FB"/>
                </a:solidFill>
                <a:latin typeface="Calibri"/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631360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o ring A"/>
          <p:cNvSpPr/>
          <p:nvPr/>
        </p:nvSpPr>
        <p:spPr>
          <a:xfrm>
            <a:off x="9814560" y="4480560"/>
            <a:ext cx="3840480" cy="3840480"/>
          </a:xfrm>
          <a:prstGeom prst="ellipse">
            <a:avLst/>
          </a:prstGeom>
          <a:noFill/>
          <a:ln w="1905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 disc"/>
          <p:cNvSpPr/>
          <p:nvPr/>
        </p:nvSpPr>
        <p:spPr>
          <a:xfrm>
            <a:off x="10637520" y="5303520"/>
            <a:ext cx="2377440" cy="2377440"/>
          </a:xfrm>
          <a:prstGeom prst="ellipse">
            <a:avLst/>
          </a:prstGeom>
          <a:solidFill>
            <a:srgbClr val="2DD4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1333E-03B2-309B-1BC9-A2A27CFE5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822960"/>
          </a:xfrm>
        </p:spPr>
        <p:txBody>
          <a:bodyPr lIns="0" tIns="0" rIns="0" bIns="0" anchor="ctr" wrap="square">
            <a:noAutofit/>
          </a:bodyPr>
          <a:lstStyle/>
          <a:p>
            <a:pPr marL="0" indent="0" algn="l">
              <a:buNone/>
            </a:pPr>
            <a:r>
              <a:rPr lang="en-US" sz="3800" b="1">
                <a:solidFill>
                  <a:srgbClr val="F4F7FB"/>
                </a:solidFill>
                <a:latin typeface="Calibri"/>
              </a:rPr>
              <a:t>Resources</a:t>
            </a:r>
          </a:p>
        </p:txBody>
      </p:sp>
      <p:sp>
        <p:nvSpPr>
          <p:cNvPr id="6" name="Card"/>
          <p:cNvSpPr/>
          <p:nvPr/>
        </p:nvSpPr>
        <p:spPr>
          <a:xfrm>
            <a:off x="731520" y="1691640"/>
            <a:ext cx="10728960" cy="2468880"/>
          </a:xfrm>
          <a:prstGeom prst="roundRect">
            <a:avLst>
              <a:gd name="adj" fmla="val 5000"/>
            </a:avLst>
          </a:prstGeom>
          <a:solidFill>
            <a:srgbClr val="14264A"/>
          </a:solidFill>
          <a:ln w="12700">
            <a:solidFill>
              <a:srgbClr val="2A4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618B8-EFAB-B149-405F-6460F19B9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65960"/>
            <a:ext cx="9997440" cy="2011680"/>
          </a:xfrm>
        </p:spPr>
        <p:txBody>
          <a:bodyPr lIns="0" tIns="0" rIns="0" bIns="0" anchor="t" wrap="square">
            <a:noAutofit/>
          </a:bodyPr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800">
                <a:solidFill>
                  <a:srgbClr val="F4F7FB"/>
                </a:solidFill>
                <a:latin typeface="Calibri"/>
              </a:rPr>
              <a:t>S. Russell, personal communication, September 28</a:t>
            </a:r>
            <a:r>
              <a:rPr lang="en-US" sz="1800" baseline="30000">
                <a:solidFill>
                  <a:srgbClr val="F4F7FB"/>
                </a:solidFill>
                <a:latin typeface="Calibri"/>
              </a:rPr>
              <a:t>th</a:t>
            </a:r>
            <a:r>
              <a:rPr lang="en-US" sz="1800">
                <a:solidFill>
                  <a:srgbClr val="F4F7FB"/>
                </a:solidFill>
                <a:latin typeface="Calibri"/>
              </a:rPr>
              <a:t>, 2026 </a:t>
            </a:r>
          </a:p>
          <a:p>
            <a:pPr marL="0" indent="0" algn="l">
              <a:spcAft>
                <a:spcPts val="1400"/>
              </a:spcAft>
              <a:buNone/>
            </a:pPr>
            <a:r>
              <a:rPr lang="en-US" sz="1800">
                <a:solidFill>
                  <a:srgbClr val="F4F7FB"/>
                </a:solidFill>
                <a:latin typeface="Calibri"/>
              </a:rPr>
              <a:t>Galic, D. (2024, March 11). </a:t>
            </a:r>
            <a:r>
              <a:rPr lang="en-US" sz="1800" i="1">
                <a:solidFill>
                  <a:srgbClr val="F4F7FB"/>
                </a:solidFill>
                <a:latin typeface="Calibri"/>
              </a:rPr>
              <a:t>How to get feedback from customers: 8 best Ways</a:t>
            </a:r>
            <a:r>
              <a:rPr lang="en-US" sz="1800">
                <a:solidFill>
                  <a:srgbClr val="F4F7FB"/>
                </a:solidFill>
                <a:latin typeface="Calibri"/>
              </a:rPr>
              <a:t>. Zendesk. </a:t>
            </a:r>
            <a:r>
              <a:rPr lang="en-US" sz="1800">
                <a:solidFill>
                  <a:srgbClr val="F4F7FB"/>
                </a:solidFill>
                <a:latin typeface="Calibri"/>
                <a:hlinkClick r:id="rId2"/>
              </a:rPr>
              <a:t>https://www.zendesk.com/blog/customer-experience/feedback/how-to-get-customer-feedback/</a:t>
            </a:r>
          </a:p>
          <a:p>
            <a:pPr marL="0" indent="0" algn="l">
              <a:spcAft>
                <a:spcPts val="1400"/>
              </a:spcAft>
              <a:buNone/>
            </a:pPr>
          </a:p>
          <a:p>
            <a:pPr marL="0" indent="0" algn="l">
              <a:spcAft>
                <a:spcPts val="1400"/>
              </a:spcAft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29247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31520" y="320040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F4F7FB"/>
                </a:solidFill>
                <a:latin typeface="Calibri"/>
              </a:rPr>
              <a:t>Appendix A: Project Timeline (Term One)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4639056" y="1133856"/>
            <a:ext cx="524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9/28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639056" y="1463040"/>
            <a:ext cx="0" cy="4157472"/>
          </a:xfrm>
          <a:prstGeom prst="line">
            <a:avLst/>
          </a:prstGeom>
          <a:noFill/>
          <a:ln w="6350">
            <a:solidFill>
              <a:srgbClr val="2A43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163312" y="1133856"/>
            <a:ext cx="524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10/5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63312" y="1463040"/>
            <a:ext cx="0" cy="4157472"/>
          </a:xfrm>
          <a:prstGeom prst="line">
            <a:avLst/>
          </a:prstGeom>
          <a:noFill/>
          <a:ln w="6350">
            <a:solidFill>
              <a:srgbClr val="2A43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687568" y="1133856"/>
            <a:ext cx="524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87568" y="1463040"/>
            <a:ext cx="0" cy="4157472"/>
          </a:xfrm>
          <a:prstGeom prst="line">
            <a:avLst/>
          </a:prstGeom>
          <a:noFill/>
          <a:ln w="6350">
            <a:solidFill>
              <a:srgbClr val="2A43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11824" y="1133856"/>
            <a:ext cx="524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10/19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1824" y="1463040"/>
            <a:ext cx="0" cy="4157472"/>
          </a:xfrm>
          <a:prstGeom prst="line">
            <a:avLst/>
          </a:prstGeom>
          <a:noFill/>
          <a:ln w="6350">
            <a:solidFill>
              <a:srgbClr val="2A43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736080" y="1133856"/>
            <a:ext cx="524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10/26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36080" y="1463040"/>
            <a:ext cx="0" cy="4157472"/>
          </a:xfrm>
          <a:prstGeom prst="line">
            <a:avLst/>
          </a:prstGeom>
          <a:noFill/>
          <a:ln w="6350">
            <a:solidFill>
              <a:srgbClr val="2A43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260336" y="1133856"/>
            <a:ext cx="524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260336" y="1463040"/>
            <a:ext cx="0" cy="4157472"/>
          </a:xfrm>
          <a:prstGeom prst="line">
            <a:avLst/>
          </a:prstGeom>
          <a:noFill/>
          <a:ln w="6350">
            <a:solidFill>
              <a:srgbClr val="2A43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784592" y="1133856"/>
            <a:ext cx="524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11/9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84592" y="1463040"/>
            <a:ext cx="0" cy="4157472"/>
          </a:xfrm>
          <a:prstGeom prst="line">
            <a:avLst/>
          </a:prstGeom>
          <a:noFill/>
          <a:ln w="6350">
            <a:solidFill>
              <a:srgbClr val="2A43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308848" y="1133856"/>
            <a:ext cx="524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11/16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308848" y="1463040"/>
            <a:ext cx="0" cy="4157472"/>
          </a:xfrm>
          <a:prstGeom prst="line">
            <a:avLst/>
          </a:prstGeom>
          <a:noFill/>
          <a:ln w="6350">
            <a:solidFill>
              <a:srgbClr val="2A43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833104" y="1133856"/>
            <a:ext cx="524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11/23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833104" y="1463040"/>
            <a:ext cx="0" cy="4157472"/>
          </a:xfrm>
          <a:prstGeom prst="line">
            <a:avLst/>
          </a:prstGeom>
          <a:noFill/>
          <a:ln w="6350">
            <a:solidFill>
              <a:srgbClr val="2A43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357360" y="1133856"/>
            <a:ext cx="524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11/30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57360" y="1463040"/>
            <a:ext cx="0" cy="4157472"/>
          </a:xfrm>
          <a:prstGeom prst="line">
            <a:avLst/>
          </a:prstGeom>
          <a:noFill/>
          <a:ln w="6350">
            <a:solidFill>
              <a:srgbClr val="2A43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9881616" y="1133856"/>
            <a:ext cx="524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12/7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881616" y="1463040"/>
            <a:ext cx="0" cy="4157472"/>
          </a:xfrm>
          <a:prstGeom prst="line">
            <a:avLst/>
          </a:prstGeom>
          <a:noFill/>
          <a:ln w="6350">
            <a:solidFill>
              <a:srgbClr val="2A43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0405872" y="1133856"/>
            <a:ext cx="524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12/14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405872" y="1463040"/>
            <a:ext cx="0" cy="4157472"/>
          </a:xfrm>
          <a:prstGeom prst="line">
            <a:avLst/>
          </a:prstGeom>
          <a:noFill/>
          <a:ln w="6350">
            <a:solidFill>
              <a:srgbClr val="2A43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98576" y="1133856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798576" y="1524000"/>
            <a:ext cx="377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</a:t>
            </a:r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and requirements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39057" y="1645920"/>
            <a:ext cx="2426556" cy="219456"/>
          </a:xfrm>
          <a:prstGeom prst="roundRect">
            <a:avLst>
              <a:gd name="adj" fmla="val 6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98576" y="2036064"/>
            <a:ext cx="377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</a:t>
            </a:r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accounts, early store submission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912249" y="2157984"/>
            <a:ext cx="1977195" cy="219456"/>
          </a:xfrm>
          <a:prstGeom prst="roundRect">
            <a:avLst>
              <a:gd name="adj" fmla="val 6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98576" y="2548128"/>
            <a:ext cx="377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</a:t>
            </a:r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and error reporting (Sentry)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035655" y="2670048"/>
            <a:ext cx="1378044" cy="219456"/>
          </a:xfrm>
          <a:prstGeom prst="roundRect">
            <a:avLst>
              <a:gd name="adj" fmla="val 6000"/>
            </a:avLst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798576" y="3060192"/>
            <a:ext cx="377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</a:t>
            </a:r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Build-and-submit pipeline (EAS)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035655" y="3182112"/>
            <a:ext cx="1527832" cy="219456"/>
          </a:xfrm>
          <a:prstGeom prst="roundRect">
            <a:avLst>
              <a:gd name="adj" fmla="val 6000"/>
            </a:avLst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798576" y="3572256"/>
            <a:ext cx="377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</a:t>
            </a:r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smoke test, all 19 screens (Maestro)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035655" y="3694176"/>
            <a:ext cx="2576344" cy="219456"/>
          </a:xfrm>
          <a:prstGeom prst="roundRect">
            <a:avLst>
              <a:gd name="adj" fmla="val 6000"/>
            </a:avLst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798576" y="4084320"/>
            <a:ext cx="377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</a:t>
            </a:r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and device support matrix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810974" y="4206240"/>
            <a:ext cx="1827407" cy="219456"/>
          </a:xfrm>
          <a:prstGeom prst="roundRect">
            <a:avLst>
              <a:gd name="adj" fmla="val 6000"/>
            </a:avLst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798576" y="4596384"/>
            <a:ext cx="377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 </a:t>
            </a:r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and Play internal acceptance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357361" y="4718304"/>
            <a:ext cx="853788" cy="219456"/>
          </a:xfrm>
          <a:prstGeom prst="roundRect">
            <a:avLst>
              <a:gd name="adj" fmla="val 6000"/>
            </a:avLst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798576" y="5108448"/>
            <a:ext cx="377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 </a:t>
            </a:r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PM, QA, final demo and closeout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639057" y="5230368"/>
            <a:ext cx="6096348" cy="219456"/>
          </a:xfrm>
          <a:prstGeom prst="roundRect">
            <a:avLst>
              <a:gd name="adj" fmla="val 6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987143" y="1463040"/>
            <a:ext cx="0" cy="4157472"/>
          </a:xfrm>
          <a:prstGeom prst="line">
            <a:avLst/>
          </a:prstGeom>
          <a:noFill/>
          <a:ln w="15875">
            <a:solidFill>
              <a:srgbClr val="FBBF24"/>
            </a:solidFill>
            <a:prstDash val="dash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5377543" y="5644896"/>
            <a:ext cx="1219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10/16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98576" y="6169152"/>
            <a:ext cx="219456" cy="1463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1066800" y="6096000"/>
            <a:ext cx="121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139696" y="6169152"/>
            <a:ext cx="219456" cy="14630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2407920" y="6096000"/>
            <a:ext cx="121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3480816" y="6010656"/>
            <a:ext cx="792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finish 12/18/2026, 2 days before Term One ends (12/20). Est. 1,842 labor hours. Risk: Studio XE repo and staging access (task 1.2) is overdue, which pushes M2 to M5.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31520" y="320040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F4F7FB"/>
                </a:solidFill>
                <a:latin typeface="Calibri"/>
              </a:rPr>
              <a:t>Appendix B: Bill of Materials and Projected Cost</a:t>
            </a:r>
          </a:p>
        </p:txBody>
      </p:sp>
      <p:sp>
        <p:nvSpPr>
          <p:cNvPr id="5" name="Shape 3"/>
          <p:cNvSpPr/>
          <p:nvPr/>
        </p:nvSpPr>
        <p:spPr>
          <a:xfrm>
            <a:off x="798576" y="1280160"/>
            <a:ext cx="2438400" cy="115824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14264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98576" y="1365504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$3,234.96</a:t>
            </a:r>
            <a:endParaRPr lang="en-US" sz="2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98576" y="195072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projected cost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80816" y="1280160"/>
            <a:ext cx="2438400" cy="115824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14264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480816" y="1365504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$2,624.00</a:t>
            </a:r>
            <a:endParaRPr lang="en-US" sz="2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480816" y="195072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Studio XE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63056" y="1280160"/>
            <a:ext cx="2438400" cy="115824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14264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163056" y="1365504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$610.96</a:t>
            </a:r>
            <a:endParaRPr lang="en-US" sz="2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163056" y="195072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cost (Claude Pro)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845296" y="1280160"/>
            <a:ext cx="2438400" cy="115824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14264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845296" y="1365504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$3,389.04</a:t>
            </a:r>
            <a:endParaRPr lang="en-US" sz="2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845296" y="195072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of $4,000 budget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798576" y="2682240"/>
          <a:ext cx="10607040" cy="3230880"/>
        </p:xfrm>
        <a:graphic>
          <a:graphicData uri="http://schemas.openxmlformats.org/drawingml/2006/table">
            <a:tbl>
              <a:tblPr/>
              <a:tblGrid>
                <a:gridCol w="4145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Funded by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Pro (4 users, Oct 2026 to Apr 2027)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lic-mo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$610.96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budget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day after GCU approval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Developer Program (annual)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$99.00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 XE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business days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Play Console (one-time)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 XE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 business day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iPhone 18 Pro test device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$1,250.00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 XE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business days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Pixel 11 Pro test device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$1,250.00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 XE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business days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EAS, Sentry, GitHub Actions, repos, staging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 XE accounts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 days after NDA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Expo, React Native, Maestro, Jest, Node, VS Code, Xcode, Android Studio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seats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/ free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798576" y="6096000"/>
            <a:ext cx="10607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team BOM rev 1.0 (10/13/2026). Term One share of Claude Pro is $261.84 (3 of 7 months). Prices include 9.1% Phoenix sales tax where applicable.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31520" y="320040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F4F7FB"/>
                </a:solidFill>
                <a:latin typeface="Calibri"/>
              </a:rPr>
              <a:t>Appendix C: Supporting Details</a:t>
            </a:r>
          </a:p>
        </p:txBody>
      </p:sp>
      <p:sp>
        <p:nvSpPr>
          <p:cNvPr id="5" name="Shape 3"/>
          <p:cNvSpPr/>
          <p:nvPr/>
        </p:nvSpPr>
        <p:spPr>
          <a:xfrm>
            <a:off x="798576" y="1402080"/>
            <a:ext cx="3352800" cy="219456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14264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81456" y="1548384"/>
            <a:ext cx="2987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7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81456" y="1987296"/>
            <a:ext cx="298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React Native SDK in development, preview and production builds; source maps uploaded from EAS; PII scrubbing on (healthcare, finance and legal users).</a:t>
            </a:r>
            <a:endParaRPr lang="en-US" sz="14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95216" y="1402080"/>
            <a:ext cx="3352800" cy="219456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14264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78096" y="1548384"/>
            <a:ext cx="2987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pipeline</a:t>
            </a:r>
            <a:endParaRPr lang="en-US" sz="17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8096" y="1987296"/>
            <a:ext cx="298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 and Submit profiles; signing secrets stored in GitHub secrets; one command produces signed iOS and Android builds.</a:t>
            </a:r>
            <a:endParaRPr lang="en-US" sz="14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91856" y="1402080"/>
            <a:ext cx="3352800" cy="219456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14264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74736" y="1548384"/>
            <a:ext cx="2987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7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74736" y="1987296"/>
            <a:ext cx="298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CLI flows across all 19 screens, run by GitHub Actions on every pull request; staging test accounts only, stable testIDs to limit flaky tests.</a:t>
            </a:r>
            <a:endParaRPr lang="en-US" sz="14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8576" y="3840480"/>
            <a:ext cx="3352800" cy="219456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14264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81456" y="3986784"/>
            <a:ext cx="2987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acceptance</a:t>
            </a:r>
            <a:endParaRPr lang="en-US" sz="17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81456" y="4425696"/>
            <a:ext cx="298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build submitted early to TestFlight and Google Play internal testing; Beta App Review 24-48 hrs, first Play review up to 7 days.</a:t>
            </a:r>
            <a:endParaRPr lang="en-US" sz="14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95216" y="3840480"/>
            <a:ext cx="3352800" cy="219456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14264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578096" y="3986784"/>
            <a:ext cx="2987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matrix</a:t>
            </a:r>
            <a:endParaRPr lang="en-US" sz="17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578096" y="4425696"/>
            <a:ext cx="298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plus two prior major iOS and Android versions; iPhone and Pixel on hand, older iOS on team phones and Simulator, older Android by flashing the Pixel.</a:t>
            </a:r>
            <a:endParaRPr lang="en-US" sz="14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91856" y="3840480"/>
            <a:ext cx="3352800" cy="2194560"/>
          </a:xfrm>
          <a:prstGeom prst="roundRect">
            <a:avLst>
              <a:gd name="adj" fmla="val 6000"/>
            </a:avLst>
          </a:prstGeom>
          <a:solidFill>
            <a:srgbClr val="14264A"/>
          </a:solidFill>
          <a:ln w="12700">
            <a:solidFill>
              <a:srgbClr val="14264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174736" y="3986784"/>
            <a:ext cx="2987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7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174736" y="4425696"/>
            <a:ext cx="298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data; NDA governs source and credentials; $4,000 team budget; Term Two (offline cache, optimistic writes) is out of Term One scope.</a:t>
            </a:r>
            <a:endParaRPr lang="en-US" sz="1467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4C89FD-AB04-4EBA-AAF6-A8A59DA043F7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b4432db2-6d69-42fb-a6f3-25508068fdad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A71ADFCD6AFE4A9415213811F24533" ma:contentTypeVersion="6" ma:contentTypeDescription="Create a new document." ma:contentTypeScope="" ma:versionID="a1c7b1be5b92dce7a2fa52f9232bff8d">
  <xsd:schema xmlns:xsd="http://www.w3.org/2001/XMLSchema" xmlns:xs="http://www.w3.org/2001/XMLSchema" xmlns:p="http://schemas.microsoft.com/office/2006/metadata/properties" xmlns:ns3="73dd506a-ace8-4126-bfaf-48d3d4e58054" targetNamespace="http://schemas.microsoft.com/office/2006/metadata/properties" ma:root="true" ma:fieldsID="fc0b16eeefa0f9dfa61053b99ea5b10c" ns3:_="">
    <xsd:import namespace="73dd506a-ace8-4126-bfaf-48d3d4e5805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dd506a-ace8-4126-bfaf-48d3d4e580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dd506a-ace8-4126-bfaf-48d3d4e58054" xsi:nil="true"/>
  </documentManagement>
</p:properties>
</file>

<file path=customXml/itemProps1.xml><?xml version="1.0" encoding="utf-8"?>
<ds:datastoreItem xmlns:ds="http://schemas.openxmlformats.org/officeDocument/2006/customXml" ds:itemID="{59765F1F-EF4C-4CBD-A4EC-91C4EF3F3A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5DED13-B1B4-4430-A9B2-E6CB27C0FE67}">
  <ds:schemaRefs>
    <ds:schemaRef ds:uri="73dd506a-ace8-4126-bfaf-48d3d4e5805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03BF3FB-BE3A-4787-B855-117F7A6742ED}">
  <ds:schemaRefs>
    <ds:schemaRef ds:uri="73dd506a-ace8-4126-bfaf-48d3d4e5805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Application>Microsoft Office PowerPoint</Application>
  <PresentationFormat>Widescreen</PresentationFormat>
  <Slides>11</Slides>
  <Notes>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Madison</vt:lpstr>
      <vt:lpstr>Office Theme</vt:lpstr>
      <vt:lpstr>PRODUCTION RELEASE ENGINEERING FOR A CROSS-PLATFORM MOBILE APPLICATION</vt:lpstr>
      <vt:lpstr>Introductions</vt:lpstr>
      <vt:lpstr>Functional Requirements</vt:lpstr>
      <vt:lpstr>Stakeholder Feedback</vt:lpstr>
      <vt:lpstr>Design Concept</vt:lpstr>
      <vt:lpstr>Schematics</vt:lpstr>
      <vt:lpstr>Next Steps</vt:lpstr>
      <vt:lpstr>Resources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Hernandez Leon</dc:creator>
  <cp:revision>2</cp:revision>
  <dcterms:created xsi:type="dcterms:W3CDTF">2026-10-16T22:20:16Z</dcterms:created>
  <dcterms:modified xsi:type="dcterms:W3CDTF">2026-10-20T08:02:55Z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0x01010033A71ADFCD6AFE4A9415213811F24533</vt:lpwstr>
  </property>
</Properties>
</file>